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50292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HAS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0" y="13716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F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Técnica e Conectada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0" y="18288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Logistics Extension  ·  React Native  ·  Spring Boot  ·  Angular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51460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75608" y="297180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24405C"/>
          </a:solidFill>
          <a:ln/>
        </p:spPr>
      </p:sp>
      <p:sp>
        <p:nvSpPr>
          <p:cNvPr id="7" name="Shape 5"/>
          <p:cNvSpPr/>
          <p:nvPr/>
        </p:nvSpPr>
        <p:spPr>
          <a:xfrm>
            <a:off x="5455768" y="3337560"/>
            <a:ext cx="1280160" cy="1280160"/>
          </a:xfrm>
          <a:prstGeom prst="ellipse">
            <a:avLst/>
          </a:prstGeom>
          <a:solidFill>
            <a:srgbClr val="34567A"/>
          </a:solidFill>
          <a:ln w="19050">
            <a:solidFill>
              <a:srgbClr val="5FB8A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55768" y="333756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358488" y="4800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Leonardo Marsiarelli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358488" y="53035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F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RM: 555366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358488" y="56235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Turma: 3SIOA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0" y="635508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FIAP  ·  Fase 5 - Mobile Hybrid App  ·  02/09/2026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CONTEXTUALIZAÇÃO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111858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Apoio à decisão em HAS, com uma</a:t>
            </a:r>
            <a:endParaRPr lang="en-US" sz="2700" dirty="0"/>
          </a:p>
          <a:p>
            <a:pPr algn="l" indent="0" marL="0">
              <a:buNone/>
            </a:pPr>
            <a:r>
              <a:rPr lang="en-US" sz="27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camada de logística inteligente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920240"/>
            <a:ext cx="6035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3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Smart HAS acompanha pacientes com Hipertensão Arterial Sistêmica e apoia decisões clínicas e logísticas — alinhado à Sociedade 5.0.
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3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Nesta fase, a camada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Logistics Extension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3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usa um motor de regras para transformar o risco do paciente em prioridade de entrega de medicamento.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086600" y="1965960"/>
            <a:ext cx="4602175" cy="960120"/>
          </a:xfrm>
          <a:prstGeom prst="roundRect">
            <a:avLst>
              <a:gd name="adj" fmla="val 9524"/>
            </a:avLst>
          </a:prstGeom>
          <a:solidFill>
            <a:srgbClr val="EAF2F4"/>
          </a:solidFill>
          <a:ln/>
        </p:spPr>
      </p:sp>
      <p:sp>
        <p:nvSpPr>
          <p:cNvPr id="6" name="Shape 4"/>
          <p:cNvSpPr/>
          <p:nvPr/>
        </p:nvSpPr>
        <p:spPr>
          <a:xfrm>
            <a:off x="7251192" y="2171700"/>
            <a:ext cx="548640" cy="548640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251192" y="21717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1965960"/>
            <a:ext cx="35963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de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pressão arterial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387688" y="2926080"/>
            <a:ext cx="9144" cy="256032"/>
          </a:xfrm>
          <a:prstGeom prst="line">
            <a:avLst/>
          </a:prstGeom>
          <a:noFill/>
          <a:ln w="25400">
            <a:solidFill>
              <a:srgbClr val="2E7D8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086600" y="3182112"/>
            <a:ext cx="4602175" cy="960120"/>
          </a:xfrm>
          <a:prstGeom prst="roundRect">
            <a:avLst>
              <a:gd name="adj" fmla="val 9524"/>
            </a:avLst>
          </a:prstGeom>
          <a:solidFill>
            <a:srgbClr val="EAF2F4"/>
          </a:solidFill>
          <a:ln/>
        </p:spPr>
      </p:sp>
      <p:sp>
        <p:nvSpPr>
          <p:cNvPr id="11" name="Shape 9"/>
          <p:cNvSpPr/>
          <p:nvPr/>
        </p:nvSpPr>
        <p:spPr>
          <a:xfrm>
            <a:off x="7251192" y="3387852"/>
            <a:ext cx="548640" cy="548640"/>
          </a:xfrm>
          <a:prstGeom prst="ellipse">
            <a:avLst/>
          </a:prstGeom>
          <a:solidFill>
            <a:srgbClr val="3E93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251192" y="33878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0" y="3182112"/>
            <a:ext cx="35963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clínica (HAS)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387688" y="4142232"/>
            <a:ext cx="9144" cy="256032"/>
          </a:xfrm>
          <a:prstGeom prst="line">
            <a:avLst/>
          </a:prstGeom>
          <a:noFill/>
          <a:ln w="25400">
            <a:solidFill>
              <a:srgbClr val="2E7D8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086600" y="4398264"/>
            <a:ext cx="4602175" cy="960120"/>
          </a:xfrm>
          <a:prstGeom prst="roundRect">
            <a:avLst>
              <a:gd name="adj" fmla="val 9524"/>
            </a:avLst>
          </a:prstGeom>
          <a:solidFill>
            <a:srgbClr val="EAF2F4"/>
          </a:solidFill>
          <a:ln/>
        </p:spPr>
      </p:sp>
      <p:sp>
        <p:nvSpPr>
          <p:cNvPr id="16" name="Shape 14"/>
          <p:cNvSpPr/>
          <p:nvPr/>
        </p:nvSpPr>
        <p:spPr>
          <a:xfrm>
            <a:off x="7251192" y="4604004"/>
            <a:ext cx="548640" cy="548640"/>
          </a:xfrm>
          <a:prstGeom prst="ellipse">
            <a:avLst/>
          </a:prstGeom>
          <a:solidFill>
            <a:srgbClr val="4FA6A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251192" y="46040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0" y="4398264"/>
            <a:ext cx="35963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regras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(AI Logistics)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387688" y="5358384"/>
            <a:ext cx="9144" cy="256032"/>
          </a:xfrm>
          <a:prstGeom prst="line">
            <a:avLst/>
          </a:prstGeom>
          <a:noFill/>
          <a:ln w="25400">
            <a:solidFill>
              <a:srgbClr val="2E7D8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086600" y="5614416"/>
            <a:ext cx="4602175" cy="960120"/>
          </a:xfrm>
          <a:prstGeom prst="roundRect">
            <a:avLst>
              <a:gd name="adj" fmla="val 9524"/>
            </a:avLst>
          </a:prstGeom>
          <a:solidFill>
            <a:srgbClr val="EAF2F4"/>
          </a:solidFill>
          <a:ln/>
        </p:spPr>
      </p:sp>
      <p:sp>
        <p:nvSpPr>
          <p:cNvPr id="21" name="Shape 19"/>
          <p:cNvSpPr/>
          <p:nvPr/>
        </p:nvSpPr>
        <p:spPr>
          <a:xfrm>
            <a:off x="7251192" y="5820156"/>
            <a:ext cx="548640" cy="548640"/>
          </a:xfrm>
          <a:prstGeom prst="ellipse">
            <a:avLst/>
          </a:prstGeom>
          <a:solidFill>
            <a:srgbClr val="5FB8A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251192" y="58201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955280" y="5614416"/>
            <a:ext cx="35963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 e janela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entrega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HAS — AI Logistics Extension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3157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— STACK MOBILE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111858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Native: a escolha para o</a:t>
            </a:r>
            <a:endParaRPr lang="en-US" sz="2700" dirty="0"/>
          </a:p>
          <a:p>
            <a:pPr algn="l" indent="0" marL="0">
              <a:buNone/>
            </a:pPr>
            <a:r>
              <a:rPr lang="en-US" sz="27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cliente mobile do Smart HAS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87452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6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base Flutter/Kotlin herdada nesta fase, a escolha priorizou consistência com o dashboard web e velocidade de evolução da AI Logistics Extension.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2788920"/>
            <a:ext cx="310896" cy="310896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2788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734056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paradigma de componentização e data binding do Angular (dashboard) — reduz curva de aprendizado do time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3657600"/>
            <a:ext cx="310896" cy="310896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02920" y="3657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3602736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permite demonstrar em dispositivo real via Expo Go, sem exigir Android Studio/Xcode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4526280"/>
            <a:ext cx="310896" cy="310896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02920" y="4526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4471416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Ecossistema maduro (React Navigation) sustenta o roadmap: push de status de entrega, mapas de rota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949440" y="1874520"/>
            <a:ext cx="4739335" cy="4160520"/>
          </a:xfrm>
          <a:prstGeom prst="roundRect">
            <a:avLst>
              <a:gd name="adj" fmla="val 3077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01600" dist="38100" dir="5400000">
              <a:srgbClr val="1F3B57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724748" y="2194560"/>
            <a:ext cx="1188720" cy="1188720"/>
          </a:xfrm>
          <a:prstGeom prst="ellipse">
            <a:avLst/>
          </a:prstGeom>
          <a:solidFill>
            <a:srgbClr val="5FB8A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724748" y="21945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RN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7132320" y="3520440"/>
            <a:ext cx="4373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Native + Expo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0" y="3913632"/>
            <a:ext cx="4373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AF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Navegação: React Navigation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i="1" dirty="0">
                <a:solidFill>
                  <a:srgbClr val="AF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(Auth Stack → Tabs)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178040" y="4617720"/>
            <a:ext cx="640080" cy="402336"/>
          </a:xfrm>
          <a:prstGeom prst="roundRect">
            <a:avLst>
              <a:gd name="adj" fmla="val 50000"/>
            </a:avLst>
          </a:prstGeom>
          <a:solidFill>
            <a:srgbClr val="2E4C6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178040" y="4617720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946136" y="4617720"/>
            <a:ext cx="640080" cy="402336"/>
          </a:xfrm>
          <a:prstGeom prst="roundRect">
            <a:avLst>
              <a:gd name="adj" fmla="val 50000"/>
            </a:avLst>
          </a:prstGeom>
          <a:solidFill>
            <a:srgbClr val="2E4C6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946136" y="4617720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714232" y="4617720"/>
            <a:ext cx="736092" cy="402336"/>
          </a:xfrm>
          <a:prstGeom prst="roundRect">
            <a:avLst>
              <a:gd name="adj" fmla="val 50000"/>
            </a:avLst>
          </a:prstGeom>
          <a:solidFill>
            <a:srgbClr val="2E4C6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714232" y="4617720"/>
            <a:ext cx="7360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578340" y="4617720"/>
            <a:ext cx="832104" cy="402336"/>
          </a:xfrm>
          <a:prstGeom prst="roundRect">
            <a:avLst>
              <a:gd name="adj" fmla="val 50000"/>
            </a:avLst>
          </a:prstGeom>
          <a:solidFill>
            <a:srgbClr val="2E4C6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578340" y="4617720"/>
            <a:ext cx="832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0538460" y="4617720"/>
            <a:ext cx="736092" cy="402336"/>
          </a:xfrm>
          <a:prstGeom prst="roundRect">
            <a:avLst>
              <a:gd name="adj" fmla="val 50000"/>
            </a:avLst>
          </a:prstGeom>
          <a:solidFill>
            <a:srgbClr val="2E4C6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0538460" y="4617720"/>
            <a:ext cx="7360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178040" y="5129784"/>
            <a:ext cx="1120140" cy="402336"/>
          </a:xfrm>
          <a:prstGeom prst="roundRect">
            <a:avLst>
              <a:gd name="adj" fmla="val 50000"/>
            </a:avLst>
          </a:prstGeom>
          <a:solidFill>
            <a:srgbClr val="2E4C6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178040" y="5129784"/>
            <a:ext cx="11201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426196" y="5129784"/>
            <a:ext cx="1024128" cy="402336"/>
          </a:xfrm>
          <a:prstGeom prst="roundRect">
            <a:avLst>
              <a:gd name="adj" fmla="val 50000"/>
            </a:avLst>
          </a:prstGeom>
          <a:solidFill>
            <a:srgbClr val="2E4C6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426196" y="5129784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578340" y="5129784"/>
            <a:ext cx="1504188" cy="402336"/>
          </a:xfrm>
          <a:prstGeom prst="roundRect">
            <a:avLst>
              <a:gd name="adj" fmla="val 50000"/>
            </a:avLst>
          </a:prstGeom>
          <a:solidFill>
            <a:srgbClr val="2E4C6B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578340" y="5129784"/>
            <a:ext cx="15041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Entregas (IA)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178040" y="5641848"/>
            <a:ext cx="832104" cy="402336"/>
          </a:xfrm>
          <a:prstGeom prst="roundRect">
            <a:avLst>
              <a:gd name="adj" fmla="val 50000"/>
            </a:avLst>
          </a:prstGeom>
          <a:solidFill>
            <a:srgbClr val="2E4C6B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178040" y="5641848"/>
            <a:ext cx="832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HAS — AI Logistics Extension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123157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TECNOLÓGICO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111858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onde viemos, onde estamos</a:t>
            </a:r>
            <a:endParaRPr lang="en-US" sz="2700" dirty="0"/>
          </a:p>
          <a:p>
            <a:pPr algn="l" indent="0" marL="0">
              <a:buNone/>
            </a:pPr>
            <a:r>
              <a:rPr lang="en-US" sz="27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para onde vamos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3484778" cy="4114800"/>
          </a:xfrm>
          <a:prstGeom prst="roundRect">
            <a:avLst>
              <a:gd name="adj" fmla="val 31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F3B57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240280"/>
            <a:ext cx="502920" cy="502920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570378" y="228600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66768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570378" y="228600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CONCLUÍDO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880360"/>
            <a:ext cx="2936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FASES ANTERIORES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77240" y="3511296"/>
            <a:ext cx="82296" cy="82296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383280"/>
            <a:ext cx="27532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estratégico do Smart HAS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77240" y="4379976"/>
            <a:ext cx="82296" cy="82296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0120" y="4251960"/>
            <a:ext cx="27532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da arquitetura geral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77240" y="5248656"/>
            <a:ext cx="82296" cy="82296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5120640"/>
            <a:ext cx="27532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Protótipos iniciais de app mobile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53458" y="1965960"/>
            <a:ext cx="3484778" cy="4114800"/>
          </a:xfrm>
          <a:prstGeom prst="roundRect">
            <a:avLst>
              <a:gd name="adj" fmla="val 3149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01600" dist="38100" dir="5400000">
              <a:srgbClr val="1F3B57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27778" y="2240280"/>
            <a:ext cx="502920" cy="502920"/>
          </a:xfrm>
          <a:prstGeom prst="ellipse">
            <a:avLst/>
          </a:prstGeom>
          <a:solidFill>
            <a:srgbClr val="5FB8A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627778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420917" y="228600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5FA46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20917" y="228600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CONCLUÍDO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627778" y="2880360"/>
            <a:ext cx="2936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 FASE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627778" y="3511296"/>
            <a:ext cx="82296" cy="82296"/>
          </a:xfrm>
          <a:prstGeom prst="ellipse">
            <a:avLst/>
          </a:prstGeom>
          <a:solidFill>
            <a:srgbClr val="5FB8A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810658" y="3383280"/>
            <a:ext cx="27532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mobile completo em React Native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627778" y="4379976"/>
            <a:ext cx="82296" cy="82296"/>
          </a:xfrm>
          <a:prstGeom prst="ellipse">
            <a:avLst/>
          </a:prstGeom>
          <a:solidFill>
            <a:srgbClr val="5FB8A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810658" y="4251960"/>
            <a:ext cx="27532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em Spring Boot + JWT + IA de logística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627778" y="5248656"/>
            <a:ext cx="82296" cy="82296"/>
          </a:xfrm>
          <a:prstGeom prst="ellipse">
            <a:avLst/>
          </a:prstGeom>
          <a:solidFill>
            <a:srgbClr val="5FB8A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810658" y="5120640"/>
            <a:ext cx="27532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administrativo em Angular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203997" y="1965960"/>
            <a:ext cx="3484778" cy="4114800"/>
          </a:xfrm>
          <a:prstGeom prst="roundRect">
            <a:avLst>
              <a:gd name="adj" fmla="val 31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F3B57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478317" y="2240280"/>
            <a:ext cx="502920" cy="502920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478317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10271455" y="228600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2E7D8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0271455" y="228600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PLANEJADO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8478317" y="2880360"/>
            <a:ext cx="2936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PRÓXIMAS FASES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8478317" y="3511296"/>
            <a:ext cx="82296" cy="82296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661197" y="3383280"/>
            <a:ext cx="27532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IA evoluir para Machine Learning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478317" y="4379976"/>
            <a:ext cx="82296" cy="82296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661197" y="4251960"/>
            <a:ext cx="27532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Notificações push e deploy em nuvem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478317" y="5248656"/>
            <a:ext cx="82296" cy="82296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661197" y="5120640"/>
            <a:ext cx="27532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E2E e novos papéis de acesso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HAS — AI Logistics Extension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1123157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— BACK-END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REST escalável com Spring Boot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2011680"/>
            <a:ext cx="5943600" cy="868680"/>
          </a:xfrm>
          <a:prstGeom prst="roundRect">
            <a:avLst>
              <a:gd name="adj" fmla="val 10526"/>
            </a:avLst>
          </a:prstGeom>
          <a:solidFill>
            <a:srgbClr val="1F3B5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21031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688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REST (auth, readings, deliveries)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3044952"/>
            <a:ext cx="5943600" cy="868680"/>
          </a:xfrm>
          <a:prstGeom prst="roundRect">
            <a:avLst>
              <a:gd name="adj" fmla="val 10526"/>
            </a:avLst>
          </a:prstGeom>
          <a:solidFill>
            <a:srgbClr val="2E7D8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313639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50215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negócio + LogisticsAiService (IA)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4078224"/>
            <a:ext cx="5943600" cy="868680"/>
          </a:xfrm>
          <a:prstGeom prst="roundRect">
            <a:avLst>
              <a:gd name="adj" fmla="val 10526"/>
            </a:avLst>
          </a:prstGeom>
          <a:solidFill>
            <a:srgbClr val="3E93A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4169664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535424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5111496"/>
            <a:ext cx="5943600" cy="868680"/>
          </a:xfrm>
          <a:prstGeom prst="roundRect">
            <a:avLst>
              <a:gd name="adj" fmla="val 10526"/>
            </a:avLst>
          </a:prstGeom>
          <a:solidFill>
            <a:srgbClr val="5FB8A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5202936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5568696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(dev) · PostgreSQL (produção)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2011680"/>
            <a:ext cx="4785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903720" y="2304288"/>
            <a:ext cx="47850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stateless + BCrypt + papéis PATIENT/ADMIN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2926080"/>
            <a:ext cx="4785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903720" y="3218688"/>
            <a:ext cx="47850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 Validation em todos os endpoints de escrita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903720" y="3840480"/>
            <a:ext cx="4785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4133088"/>
            <a:ext cx="47850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 global com formato de erro padronizado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4754880"/>
            <a:ext cx="4785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5047488"/>
            <a:ext cx="47850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 + OpenAPI (springdoc)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903720" y="5669280"/>
            <a:ext cx="4785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903720" y="5961888"/>
            <a:ext cx="47850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mvn test — contexto Spring + regras de classificação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HAS — AI Logistics Extension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23157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LOGISTICS EXTENSION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111858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motor de regras que prioriza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entrega de medicamentos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17320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F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LogisticsAiService calcula risco, prioridade e janela de entrega a partir da última leitura de pressão do paciente — uma IA simbólica, 100% explicável.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148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da leitura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4343400" y="2148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806440" y="2148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183880" y="2148840"/>
            <a:ext cx="3504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 sugerida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606040"/>
            <a:ext cx="11185855" cy="548640"/>
          </a:xfrm>
          <a:prstGeom prst="roundRect">
            <a:avLst>
              <a:gd name="adj" fmla="val 13333"/>
            </a:avLst>
          </a:prstGeom>
          <a:solidFill>
            <a:srgbClr val="24405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2606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Crise hipertensiva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343400" y="26060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806440" y="2715768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806440" y="271576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183880" y="2606040"/>
            <a:ext cx="3322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+1h a +2h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264408"/>
            <a:ext cx="11185855" cy="548640"/>
          </a:xfrm>
          <a:prstGeom prst="roundRect">
            <a:avLst>
              <a:gd name="adj" fmla="val 13333"/>
            </a:avLst>
          </a:prstGeom>
          <a:solidFill>
            <a:srgbClr val="24405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326440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estágio 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343400" y="326440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806440" y="3374136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E08E4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806440" y="337413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183880" y="3264408"/>
            <a:ext cx="3322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+2h a +4h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3922776"/>
            <a:ext cx="11185855" cy="548640"/>
          </a:xfrm>
          <a:prstGeom prst="roundRect">
            <a:avLst>
              <a:gd name="adj" fmla="val 13333"/>
            </a:avLst>
          </a:prstGeom>
          <a:solidFill>
            <a:srgbClr val="24405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5800" y="392277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estágio 1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343400" y="392277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806440" y="4032504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D9B44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806440" y="403250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183880" y="3922776"/>
            <a:ext cx="3322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+4h a +8h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4581144"/>
            <a:ext cx="11185855" cy="548640"/>
          </a:xfrm>
          <a:prstGeom prst="roundRect">
            <a:avLst>
              <a:gd name="adj" fmla="val 13333"/>
            </a:avLst>
          </a:prstGeom>
          <a:solidFill>
            <a:srgbClr val="24405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85800" y="458114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Elevada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343400" y="458114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806440" y="4690872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FA46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806440" y="469087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183880" y="4581144"/>
            <a:ext cx="3322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dia útil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2920" y="5239512"/>
            <a:ext cx="11185855" cy="548640"/>
          </a:xfrm>
          <a:prstGeom prst="roundRect">
            <a:avLst>
              <a:gd name="adj" fmla="val 13333"/>
            </a:avLst>
          </a:prstGeom>
          <a:solidFill>
            <a:srgbClr val="24405C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85800" y="523951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/ sem leitura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4343400" y="523951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806440" y="534924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FA463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5806440" y="53492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8183880" y="5239512"/>
            <a:ext cx="3322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dia útil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HAS — AI Logistics Extension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1123157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— DASHBOARD WEB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Painel administrativo em Angular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365760" cy="365760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9385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402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/login, /home (visão geral) e /admin (gestão), com guards por papel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715768"/>
            <a:ext cx="365760" cy="365760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02920" y="2715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68833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Serviços HttpClient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99008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AuthService, ReadingService, DeliveryService + interceptor JWT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465576"/>
            <a:ext cx="365760" cy="365760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" y="3465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343814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binding completo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739896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 }} interpolação · [ ] property · ( ) event · [( )] ngModel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4215384"/>
            <a:ext cx="365760" cy="365760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02920" y="4215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418795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Diretivas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4489704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*ngIf (estados de carregamento/erro/acesso) · *ngFor (tabelas)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4965192"/>
            <a:ext cx="365760" cy="365760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02920" y="4965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" y="49377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 ngModel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523951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Criação de pedido de entrega + filtros por prioridade/status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0" y="1920240"/>
            <a:ext cx="4830775" cy="4160520"/>
          </a:xfrm>
          <a:prstGeom prst="roundRect">
            <a:avLst>
              <a:gd name="adj" fmla="val 2198"/>
            </a:avLst>
          </a:prstGeom>
          <a:solidFill>
            <a:srgbClr val="EAF2F4"/>
          </a:solidFill>
          <a:ln/>
          <a:effectLst>
            <a:outerShdw sx="100000" sy="100000" kx="0" ky="0" algn="bl" rotWithShape="0" blurRad="101600" dist="38100" dir="5400000">
              <a:srgbClr val="1F3B57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58000" y="1920240"/>
            <a:ext cx="4830775" cy="365760"/>
          </a:xfrm>
          <a:prstGeom prst="roundRect">
            <a:avLst>
              <a:gd name="adj" fmla="val 25000"/>
            </a:avLst>
          </a:prstGeom>
          <a:solidFill>
            <a:srgbClr val="1F3B57"/>
          </a:solidFill>
          <a:ln/>
        </p:spPr>
      </p:sp>
      <p:sp>
        <p:nvSpPr>
          <p:cNvPr id="26" name="Shape 24"/>
          <p:cNvSpPr/>
          <p:nvPr/>
        </p:nvSpPr>
        <p:spPr>
          <a:xfrm>
            <a:off x="7040880" y="2048256"/>
            <a:ext cx="118872" cy="118872"/>
          </a:xfrm>
          <a:prstGeom prst="ellipse">
            <a:avLst/>
          </a:prstGeom>
          <a:solidFill>
            <a:srgbClr val="E86058"/>
          </a:solidFill>
          <a:ln/>
        </p:spPr>
      </p:sp>
      <p:sp>
        <p:nvSpPr>
          <p:cNvPr id="27" name="Shape 25"/>
          <p:cNvSpPr/>
          <p:nvPr/>
        </p:nvSpPr>
        <p:spPr>
          <a:xfrm>
            <a:off x="7296912" y="2048256"/>
            <a:ext cx="118872" cy="118872"/>
          </a:xfrm>
          <a:prstGeom prst="ellipse">
            <a:avLst/>
          </a:prstGeom>
          <a:solidFill>
            <a:srgbClr val="F2C351"/>
          </a:solidFill>
          <a:ln/>
        </p:spPr>
      </p:sp>
      <p:sp>
        <p:nvSpPr>
          <p:cNvPr id="28" name="Shape 26"/>
          <p:cNvSpPr/>
          <p:nvPr/>
        </p:nvSpPr>
        <p:spPr>
          <a:xfrm>
            <a:off x="7552944" y="2048256"/>
            <a:ext cx="118872" cy="118872"/>
          </a:xfrm>
          <a:prstGeom prst="ellipse">
            <a:avLst/>
          </a:prstGeom>
          <a:solidFill>
            <a:srgbClr val="3EBD75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955280" y="1920240"/>
            <a:ext cx="3550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smarthas.local/admin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040880" y="2514600"/>
            <a:ext cx="4465015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178040" y="2514600"/>
            <a:ext cx="22325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 Silva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496638" y="2624328"/>
            <a:ext cx="1875306" cy="292608"/>
          </a:xfrm>
          <a:prstGeom prst="roundRect">
            <a:avLst>
              <a:gd name="adj" fmla="val 50000"/>
            </a:avLst>
          </a:prstGeom>
          <a:solidFill>
            <a:srgbClr val="E08E45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496638" y="2624328"/>
            <a:ext cx="18753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HAS_ESTAGIO_2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040880" y="3136392"/>
            <a:ext cx="4465015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178040" y="3136392"/>
            <a:ext cx="22325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Teste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496638" y="3246120"/>
            <a:ext cx="1875306" cy="29260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496638" y="3246120"/>
            <a:ext cx="18753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CRISE_HIPERTENSIVA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040880" y="3758184"/>
            <a:ext cx="4465015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178040" y="3758184"/>
            <a:ext cx="22325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Souza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496638" y="3867912"/>
            <a:ext cx="1875306" cy="292608"/>
          </a:xfrm>
          <a:prstGeom prst="roundRect">
            <a:avLst>
              <a:gd name="adj" fmla="val 50000"/>
            </a:avLst>
          </a:prstGeom>
          <a:solidFill>
            <a:srgbClr val="5FA463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496638" y="3867912"/>
            <a:ext cx="18753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7040880" y="5577840"/>
            <a:ext cx="4465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dinâmica com *ngFor + filtros [(ngModel)]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HAS — AI Logistics Extension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1123157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contrato de API, três front-ends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952848" y="3063240"/>
            <a:ext cx="2286000" cy="2286000"/>
          </a:xfrm>
          <a:prstGeom prst="roundRect">
            <a:avLst>
              <a:gd name="adj" fmla="val 50000"/>
            </a:avLst>
          </a:prstGeom>
          <a:solidFill>
            <a:srgbClr val="24405C"/>
          </a:solidFill>
          <a:ln/>
        </p:spPr>
      </p:sp>
      <p:sp>
        <p:nvSpPr>
          <p:cNvPr id="5" name="Shape 3"/>
          <p:cNvSpPr/>
          <p:nvPr/>
        </p:nvSpPr>
        <p:spPr>
          <a:xfrm>
            <a:off x="4952848" y="3063240"/>
            <a:ext cx="2286000" cy="2286000"/>
          </a:xfrm>
          <a:prstGeom prst="ellipse">
            <a:avLst/>
          </a:prstGeom>
          <a:ln w="25400">
            <a:solidFill>
              <a:srgbClr val="5FB8A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952848" y="37947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REST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Boot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020684" y="2418255"/>
            <a:ext cx="1737360" cy="1280160"/>
          </a:xfrm>
          <a:prstGeom prst="roundRect">
            <a:avLst>
              <a:gd name="adj" fmla="val 8571"/>
            </a:avLst>
          </a:prstGeom>
          <a:solidFill>
            <a:srgbClr val="24405C"/>
          </a:solidFill>
          <a:ln/>
        </p:spPr>
      </p:sp>
      <p:sp>
        <p:nvSpPr>
          <p:cNvPr id="8" name="Shape 6"/>
          <p:cNvSpPr/>
          <p:nvPr/>
        </p:nvSpPr>
        <p:spPr>
          <a:xfrm>
            <a:off x="3203564" y="2601135"/>
            <a:ext cx="914400" cy="914400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203564" y="2601135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RN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209404" y="2418255"/>
            <a:ext cx="457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889364" y="3058335"/>
            <a:ext cx="2206484" cy="1147905"/>
          </a:xfrm>
          <a:prstGeom prst="line">
            <a:avLst/>
          </a:prstGeom>
          <a:noFill/>
          <a:ln w="25400">
            <a:solidFill>
              <a:srgbClr val="5FB8A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433651" y="2418255"/>
            <a:ext cx="1737360" cy="1280160"/>
          </a:xfrm>
          <a:prstGeom prst="roundRect">
            <a:avLst>
              <a:gd name="adj" fmla="val 8571"/>
            </a:avLst>
          </a:prstGeom>
          <a:solidFill>
            <a:srgbClr val="24405C"/>
          </a:solidFill>
          <a:ln/>
        </p:spPr>
      </p:sp>
      <p:sp>
        <p:nvSpPr>
          <p:cNvPr id="13" name="Shape 11"/>
          <p:cNvSpPr/>
          <p:nvPr/>
        </p:nvSpPr>
        <p:spPr>
          <a:xfrm>
            <a:off x="7616531" y="2601135"/>
            <a:ext cx="914400" cy="914400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16531" y="2601135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622371" y="2418255"/>
            <a:ext cx="457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 flipH="1">
            <a:off x="6095848" y="3058335"/>
            <a:ext cx="2206484" cy="1147905"/>
          </a:xfrm>
          <a:prstGeom prst="line">
            <a:avLst/>
          </a:prstGeom>
          <a:noFill/>
          <a:ln w="25400">
            <a:solidFill>
              <a:srgbClr val="5FB8A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227168" y="5351983"/>
            <a:ext cx="1737360" cy="1280160"/>
          </a:xfrm>
          <a:prstGeom prst="roundRect">
            <a:avLst>
              <a:gd name="adj" fmla="val 8571"/>
            </a:avLst>
          </a:prstGeom>
          <a:solidFill>
            <a:srgbClr val="24405C"/>
          </a:solidFill>
          <a:ln/>
        </p:spPr>
      </p:sp>
      <p:sp>
        <p:nvSpPr>
          <p:cNvPr id="18" name="Shape 16"/>
          <p:cNvSpPr/>
          <p:nvPr/>
        </p:nvSpPr>
        <p:spPr>
          <a:xfrm>
            <a:off x="5410048" y="5534863"/>
            <a:ext cx="914400" cy="914400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10048" y="5534863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415888" y="5351983"/>
            <a:ext cx="457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Persistência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/ PostgreSQL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 flipV="1">
            <a:off x="6095848" y="4206240"/>
            <a:ext cx="9144" cy="1785823"/>
          </a:xfrm>
          <a:prstGeom prst="line">
            <a:avLst/>
          </a:prstGeom>
          <a:noFill/>
          <a:ln w="25400">
            <a:solidFill>
              <a:srgbClr val="5FB8A6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502920" y="608076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e dashboard consomem exatamente o mesmo contrato REST (docs/api-contract.md) — o que muda é a experiência de cada superfície.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HAS — AI Logistics Extension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23157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&amp; ENTREGA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Código, credenciais e vídeo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EAF2F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20574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GITHUB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774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github.com/LeoMarsiarelli/Smart-HAS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88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/mobile · /backend · /web-admin · /docs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38862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EAF2F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4069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DE DEMONSTRAÇÃO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389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[Inserir link do YouTube — não listado]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800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prática do app em funcionamento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03720" y="1874520"/>
            <a:ext cx="4785055" cy="3749040"/>
          </a:xfrm>
          <a:prstGeom prst="roundRect">
            <a:avLst>
              <a:gd name="adj" fmla="val 2927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01600" dist="38100" dir="5400000">
              <a:srgbClr val="1F3B57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178040" y="2103120"/>
            <a:ext cx="4236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F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CREDENCIAIS DE DEMONSTRAÇÃO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178040" y="260604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2E7D8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78040" y="26060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178040" y="3017520"/>
            <a:ext cx="4236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admin@smarthas.com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178040" y="3291840"/>
            <a:ext cx="4236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senha: admin123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178040" y="374904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2E7D8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78040" y="37490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7178040" y="4160520"/>
            <a:ext cx="4236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maria@smarthas.com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178040" y="4434840"/>
            <a:ext cx="4236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senha: paciente123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HAS — AI Logistics Extension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23157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822960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Conclusão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600200"/>
            <a:ext cx="6949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Smart HAS evoluiu de um escopo planejado para uma base técnica completa e integrada — mobile, back-end e dashboard consumindo o mesmo contrato de dados, com uma camada de IA de logística explicável e pronta para crescer.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3657600"/>
            <a:ext cx="384048" cy="384048"/>
          </a:xfrm>
          <a:prstGeom prst="ellipse">
            <a:avLst/>
          </a:prstGeom>
          <a:solidFill>
            <a:srgbClr val="5FB8A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368503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IA → Machine Learning treinado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4224528"/>
            <a:ext cx="384048" cy="384048"/>
          </a:xfrm>
          <a:prstGeom prst="ellipse">
            <a:avLst/>
          </a:prstGeom>
          <a:solidFill>
            <a:srgbClr val="5FB8A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4251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Notificações push + deploy em nuvem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4791456"/>
            <a:ext cx="384048" cy="384048"/>
          </a:xfrm>
          <a:prstGeom prst="ellipse">
            <a:avLst/>
          </a:prstGeom>
          <a:solidFill>
            <a:srgbClr val="5FB8A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2920" y="4791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48188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E2E nas três camadas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595360" y="2011680"/>
            <a:ext cx="1371600" cy="1371600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595360" y="20116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RN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10287000" y="2011680"/>
            <a:ext cx="1371600" cy="1371600"/>
          </a:xfrm>
          <a:prstGeom prst="ellipse">
            <a:avLst/>
          </a:prstGeom>
          <a:solidFill>
            <a:srgbClr val="3E93A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287000" y="20116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SB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8595360" y="3703320"/>
            <a:ext cx="1371600" cy="1371600"/>
          </a:xfrm>
          <a:prstGeom prst="ellipse">
            <a:avLst/>
          </a:prstGeom>
          <a:solidFill>
            <a:srgbClr val="5FB8A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595360" y="37033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10287000" y="3703320"/>
            <a:ext cx="1371600" cy="1371600"/>
          </a:xfrm>
          <a:prstGeom prst="ellipse">
            <a:avLst/>
          </a:prstGeom>
          <a:solidFill>
            <a:srgbClr val="5FA46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287000" y="37033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0" y="635508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HAS — AI Logistics Extension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2026-09-03T00:10:42Z</dcterms:created>
  <dcterms:modified xsi:type="dcterms:W3CDTF">2026-09-03T00:10:42Z</dcterms:modified>
</cp:coreProperties>
</file>